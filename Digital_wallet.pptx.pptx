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A264C-5F05-A396-C683-348275C52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C8CAB-420B-75C3-3F62-BF8CC18FC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A888-E9B6-D7B4-1BB9-E6E2BD42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16251-B4B6-6B60-CDE5-ABCB8BBB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80538-193E-AEB6-C393-37C77514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38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2D27-E4BE-600F-CE5A-2817F40B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AFE97-87E6-9A9D-D7D7-551DD37A8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F2062-1398-A7AB-8265-8640C00C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B8BC2-46F8-85A0-C7BF-2578418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C962-16D6-EACC-54B2-F0EDE219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03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3208-BA1B-014D-40E8-2E202D1E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135CF-80E6-2299-C055-E3168A6E3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425B-DA5D-5A21-C50A-2BBFE74F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BF6AA-0C2D-57E6-85FC-A90BF519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D8D7-1516-9E56-953A-CDB1B8B2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957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7D13C-B4E9-DDA4-931E-8956BA20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618F1-2D04-1B92-90FB-2238F8794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E1DC2-41AA-C5F0-DDD7-3B058E55B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977CF-3EF3-9A4C-B3DB-5D08F6CE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98833-537F-18FB-EBA3-4A985D11E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BDC65-01B7-35FE-EDC8-48610BB3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50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F8BA-7585-B959-3C24-96218756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20479-3BD8-6A09-542C-35A2563E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5B649-B579-AC2B-6F30-27A9C92B3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E720C-356C-0623-25B5-CCC893A22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A070D-FDE1-1192-1637-DFCC9F0BA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1A4F26-8881-E614-1FE7-C51814F5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DFE8E-CB1D-0A6C-8E0D-760280D21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2DBCE-D757-1ED1-28A1-C0E5D3BE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07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6413-DE21-AC7B-EA43-23CA658E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B6196-2E81-B9B4-FD6D-6D915E091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1C5B6-21FC-401B-C3D7-BCC7A218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D89C9-30FA-E0CF-15E5-7FEE2DB1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96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D681B7-39C7-4C15-5816-17257C82B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17D29-98ED-0596-BAB0-0E5600ED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3EDF0-8112-851F-0EE7-C0CFF052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33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F0D9-0DAA-3415-5727-C0B523DFF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1A50C-82E7-26B0-6F01-3D3B9AF6F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7C6BE-CB6B-18EC-A913-C0BB227C4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CE775-47F8-60F9-7163-418C30980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B5427-2D0B-779D-8751-400BA916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6706C-CB8A-7E4D-2A17-0E77B28E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73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685F-FE99-F40C-9505-C88B5972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CD7EC-BEEA-C931-EF8F-5998438BA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315FA-7020-791B-9A30-86C2EC98F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28E69-3E38-F7C7-5A21-126F3184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622A4-5F1B-0215-BA4B-C5379B34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87DF8-4A16-C73B-F70B-58559D97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53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8434D-E013-9CA6-93E8-0343BA82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DF763-30BB-6501-E7CE-BD8FAD0DA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B2171-B592-A8BD-F2DD-3A5CD036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4F6FF-03E2-2A2B-D64F-D026973D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ADFEE-9CEE-0448-1F49-3AEB633B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698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26454D-CEC2-7AF2-0BA3-95C95B045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753B8-BD3E-C9C2-D111-9475B5B0D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E8A15-ACE7-7E2D-0A81-07184DB8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4DF0A-1ED4-02B4-FA4F-B685D7E1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1161D-761A-F952-2312-4475C319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8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C48A8-8DD8-23E9-1E59-A1F9A1F8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5C7B3-4B10-7460-6E54-98210D20E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74D0-E7E2-F0CB-7050-6CAE13249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A8D0E-C556-44BF-9349-D3928EF2FAE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68EAA-8EFD-309A-E286-E57CF6AD7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70C7A-9EB0-E228-66E3-F43A34A55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C0C0A-8231-4887-9D7F-D0F001AA7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48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19A9B2-34A4-E7E4-40EF-CF32D6F5DFC2}"/>
              </a:ext>
            </a:extLst>
          </p:cNvPr>
          <p:cNvSpPr txBox="1"/>
          <p:nvPr/>
        </p:nvSpPr>
        <p:spPr>
          <a:xfrm>
            <a:off x="2713703" y="40527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u="none" strike="noStrike" dirty="0">
                <a:effectLst/>
                <a:latin typeface="Times New Roman" panose="02020603050405020304" pitchFamily="18" charset="0"/>
              </a:rPr>
              <a:t>Customer Lifetime Value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5B992-7A49-B0A3-341B-86683E53CE01}"/>
              </a:ext>
            </a:extLst>
          </p:cNvPr>
          <p:cNvSpPr txBox="1"/>
          <p:nvPr/>
        </p:nvSpPr>
        <p:spPr>
          <a:xfrm>
            <a:off x="904567" y="1719401"/>
            <a:ext cx="49947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Customer Lifetime Value (LTV) for FinTech customers based on their transaction history , demographics, and engagement patterns. The goal is to help financial service providers identify high-value customers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8872B9-D386-DA78-9E55-03DF17242909}"/>
              </a:ext>
            </a:extLst>
          </p:cNvPr>
          <p:cNvSpPr txBox="1"/>
          <p:nvPr/>
        </p:nvSpPr>
        <p:spPr>
          <a:xfrm>
            <a:off x="668593" y="1108502"/>
            <a:ext cx="319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Problem Statement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IN" dirty="0"/>
          </a:p>
        </p:txBody>
      </p:sp>
      <p:pic>
        <p:nvPicPr>
          <p:cNvPr id="1026" name="Picture 2" descr="Customer Lifetime Value (LTV) - Definition, Formula, Calculation">
            <a:extLst>
              <a:ext uri="{FF2B5EF4-FFF2-40B4-BE49-F238E27FC236}">
                <a16:creationId xmlns:a16="http://schemas.microsoft.com/office/drawing/2014/main" id="{168B7DC0-6877-6E18-F370-4479ECF41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232" y="1108502"/>
            <a:ext cx="4648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619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1FB819-F4AA-7031-F9E0-5E1FF5149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54447"/>
              </p:ext>
            </p:extLst>
          </p:nvPr>
        </p:nvGraphicFramePr>
        <p:xfrm>
          <a:off x="2625213" y="1307690"/>
          <a:ext cx="6853084" cy="4562166"/>
        </p:xfrm>
        <a:graphic>
          <a:graphicData uri="http://schemas.openxmlformats.org/drawingml/2006/table">
            <a:tbl>
              <a:tblPr/>
              <a:tblGrid>
                <a:gridCol w="3426542">
                  <a:extLst>
                    <a:ext uri="{9D8B030D-6E8A-4147-A177-3AD203B41FA5}">
                      <a16:colId xmlns:a16="http://schemas.microsoft.com/office/drawing/2014/main" val="3941549121"/>
                    </a:ext>
                  </a:extLst>
                </a:gridCol>
                <a:gridCol w="3426542">
                  <a:extLst>
                    <a:ext uri="{9D8B030D-6E8A-4147-A177-3AD203B41FA5}">
                      <a16:colId xmlns:a16="http://schemas.microsoft.com/office/drawing/2014/main" val="77015646"/>
                    </a:ext>
                  </a:extLst>
                </a:gridCol>
              </a:tblGrid>
              <a:tr h="36436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759450"/>
                  </a:ext>
                </a:extLst>
              </a:tr>
              <a:tr h="4199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Customer_ID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Unique identifier for each customer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029800"/>
                  </a:ext>
                </a:extLst>
              </a:tr>
              <a:tr h="4199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 of the customer (18-70 years)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956505"/>
                  </a:ext>
                </a:extLst>
              </a:tr>
              <a:tr h="4199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Location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Geographical location (Urban, Suburban, Rural)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260780"/>
                  </a:ext>
                </a:extLst>
              </a:tr>
              <a:tr h="4199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Income_Level</a:t>
                      </a:r>
                      <a:r>
                        <a:rPr lang="en-IN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Income classification (Low, Middle, High)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717962"/>
                  </a:ext>
                </a:extLst>
              </a:tr>
              <a:tr h="4199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Total_Transactions</a:t>
                      </a:r>
                      <a:r>
                        <a:rPr lang="en-IN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number of transactions made by the customer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848038"/>
                  </a:ext>
                </a:extLst>
              </a:tr>
              <a:tr h="4199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Avg_Transaction_Value</a:t>
                      </a:r>
                      <a:r>
                        <a:rPr lang="en-IN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value of each transaction (in Rupees)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078625"/>
                  </a:ext>
                </a:extLst>
              </a:tr>
              <a:tr h="348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Total_Spent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amount spent by the customer (in Rupees)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881751"/>
                  </a:ext>
                </a:extLst>
              </a:tr>
              <a:tr h="4199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Max_Transaction_Value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Highest single transaction value (in Rupees)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443700"/>
                  </a:ext>
                </a:extLst>
              </a:tr>
              <a:tr h="4199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Min_Transaction_Value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Lowest single transaction value (in Rupees)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444990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Active_Days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Number of days the customer has been active on the platform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3018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4A7803E-C30E-B305-23CD-71BA83BEDE93}"/>
              </a:ext>
            </a:extLst>
          </p:cNvPr>
          <p:cNvSpPr txBox="1"/>
          <p:nvPr/>
        </p:nvSpPr>
        <p:spPr>
          <a:xfrm>
            <a:off x="639097" y="6188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Dataset Details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848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DCE26F-AD61-E534-0631-C5B285ED8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740423"/>
              </p:ext>
            </p:extLst>
          </p:nvPr>
        </p:nvGraphicFramePr>
        <p:xfrm>
          <a:off x="1858297" y="757084"/>
          <a:ext cx="8760542" cy="5075387"/>
        </p:xfrm>
        <a:graphic>
          <a:graphicData uri="http://schemas.openxmlformats.org/drawingml/2006/table">
            <a:tbl>
              <a:tblPr/>
              <a:tblGrid>
                <a:gridCol w="4380271">
                  <a:extLst>
                    <a:ext uri="{9D8B030D-6E8A-4147-A177-3AD203B41FA5}">
                      <a16:colId xmlns:a16="http://schemas.microsoft.com/office/drawing/2014/main" val="2214749251"/>
                    </a:ext>
                  </a:extLst>
                </a:gridCol>
                <a:gridCol w="4380271">
                  <a:extLst>
                    <a:ext uri="{9D8B030D-6E8A-4147-A177-3AD203B41FA5}">
                      <a16:colId xmlns:a16="http://schemas.microsoft.com/office/drawing/2014/main" val="3073655045"/>
                    </a:ext>
                  </a:extLst>
                </a:gridCol>
              </a:tblGrid>
              <a:tr h="40259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12313"/>
                  </a:ext>
                </a:extLst>
              </a:tr>
              <a:tr h="45268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Last_Transaction_Days_Ago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Days since the customer’s last transaction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092614"/>
                  </a:ext>
                </a:extLst>
              </a:tr>
              <a:tr h="45268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Loyalty_Points_Earned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loyalty points earned by the customer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677017"/>
                  </a:ext>
                </a:extLst>
              </a:tr>
              <a:tr h="45268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Referral_Count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Number of new customers referred by the user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223296"/>
                  </a:ext>
                </a:extLst>
              </a:tr>
              <a:tr h="45268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Cashback_Received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cashback received (in Rupees)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889916"/>
                  </a:ext>
                </a:extLst>
              </a:tr>
              <a:tr h="50035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App_Usage_Frequency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Frequency of app usage (Daily, Weekly, Monthly)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38113"/>
                  </a:ext>
                </a:extLst>
              </a:tr>
              <a:tr h="37346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Preferred_Pa yment_Method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Most frequently used payment method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844167"/>
                  </a:ext>
                </a:extLst>
              </a:tr>
              <a:tr h="45268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Support_Tickets_Raised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Number of support tickets raised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07434"/>
                  </a:ext>
                </a:extLst>
              </a:tr>
              <a:tr h="54142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Issue_Resolution_Time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time taken to resolve customer issues (in hours)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83490"/>
                  </a:ext>
                </a:extLst>
              </a:tr>
              <a:tr h="45268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Customer_Satisfaction_Score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Customer satisfaction score (1-10)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65600"/>
                  </a:ext>
                </a:extLst>
              </a:tr>
              <a:tr h="54142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LTV (Target Variable)</a:t>
                      </a:r>
                      <a:r>
                        <a:rPr lang="en-IN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Estimated Lifetime Value of the customer (in Rupees)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16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7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7BB4EB-F131-1644-9C13-38F85E8E8619}"/>
              </a:ext>
            </a:extLst>
          </p:cNvPr>
          <p:cNvSpPr txBox="1"/>
          <p:nvPr/>
        </p:nvSpPr>
        <p:spPr>
          <a:xfrm>
            <a:off x="3048000" y="3954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u="none" strike="noStrike" dirty="0">
                <a:effectLst/>
                <a:latin typeface="Times New Roman" panose="02020603050405020304" pitchFamily="18" charset="0"/>
              </a:rPr>
              <a:t>Descriptive Analysis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41ABCC-C71C-B51D-A319-AD3663CC04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5" t="6640" r="5335" b="7173"/>
          <a:stretch>
            <a:fillRect/>
          </a:stretch>
        </p:blipFill>
        <p:spPr>
          <a:xfrm>
            <a:off x="8583561" y="1638975"/>
            <a:ext cx="1484671" cy="7964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B65EBF-30CF-0F89-150D-5A0F01283061}"/>
              </a:ext>
            </a:extLst>
          </p:cNvPr>
          <p:cNvSpPr txBox="1"/>
          <p:nvPr/>
        </p:nvSpPr>
        <p:spPr>
          <a:xfrm>
            <a:off x="1002890" y="1238865"/>
            <a:ext cx="1897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Amount Spent: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5536F7-8C41-8AE9-656E-63245B81AF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7" t="2815" r="2515" b="3054"/>
          <a:stretch>
            <a:fillRect/>
          </a:stretch>
        </p:blipFill>
        <p:spPr>
          <a:xfrm>
            <a:off x="216309" y="4326192"/>
            <a:ext cx="2831691" cy="19861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7F58B5-E878-73D8-8A67-08BF5BC21A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56" t="5514" r="4611" b="3184"/>
          <a:stretch>
            <a:fillRect/>
          </a:stretch>
        </p:blipFill>
        <p:spPr>
          <a:xfrm>
            <a:off x="3229897" y="4326192"/>
            <a:ext cx="2517058" cy="20352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7E6248-0C7F-69FF-85D9-D0876A905C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60" t="3893" r="5360" b="3218"/>
          <a:stretch>
            <a:fillRect/>
          </a:stretch>
        </p:blipFill>
        <p:spPr>
          <a:xfrm>
            <a:off x="5928852" y="4326192"/>
            <a:ext cx="2831691" cy="20352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B866FA2-276A-9053-DDEF-1FE46C83F23E}"/>
              </a:ext>
            </a:extLst>
          </p:cNvPr>
          <p:cNvSpPr txBox="1"/>
          <p:nvPr/>
        </p:nvSpPr>
        <p:spPr>
          <a:xfrm>
            <a:off x="1533831" y="1791375"/>
            <a:ext cx="521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Total amount spent by the all type of customers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B96159-65CE-57C2-8137-81B2F12049BD}"/>
              </a:ext>
            </a:extLst>
          </p:cNvPr>
          <p:cNvSpPr txBox="1"/>
          <p:nvPr/>
        </p:nvSpPr>
        <p:spPr>
          <a:xfrm>
            <a:off x="496529" y="3215148"/>
            <a:ext cx="2453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the person ages between the 40 to 60 are spending more.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8005BB-B425-85D9-FCD6-4D9A8F09D27C}"/>
              </a:ext>
            </a:extLst>
          </p:cNvPr>
          <p:cNvSpPr txBox="1"/>
          <p:nvPr/>
        </p:nvSpPr>
        <p:spPr>
          <a:xfrm>
            <a:off x="3229898" y="3263858"/>
            <a:ext cx="2517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almost in every location spent amount is same.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F2EC56-0444-DBC2-2D18-226B90DB8338}"/>
              </a:ext>
            </a:extLst>
          </p:cNvPr>
          <p:cNvSpPr txBox="1"/>
          <p:nvPr/>
        </p:nvSpPr>
        <p:spPr>
          <a:xfrm>
            <a:off x="5928852" y="3215148"/>
            <a:ext cx="2654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almost in all categories spent amount is same.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C16740C-F3EE-A786-E1C2-C579DA016F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18" t="6850" r="4228" b="10088"/>
          <a:stretch>
            <a:fillRect/>
          </a:stretch>
        </p:blipFill>
        <p:spPr>
          <a:xfrm>
            <a:off x="8942440" y="4326191"/>
            <a:ext cx="2900517" cy="19861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E49C876-D61D-1C58-5B45-FDA4AE45260F}"/>
              </a:ext>
            </a:extLst>
          </p:cNvPr>
          <p:cNvSpPr txBox="1"/>
          <p:nvPr/>
        </p:nvSpPr>
        <p:spPr>
          <a:xfrm>
            <a:off x="8942440" y="3263858"/>
            <a:ext cx="2753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the middle income-level customers are spending a bit more.</a:t>
            </a:r>
          </a:p>
        </p:txBody>
      </p:sp>
    </p:spTree>
    <p:extLst>
      <p:ext uri="{BB962C8B-B14F-4D97-AF65-F5344CB8AC3E}">
        <p14:creationId xmlns:p14="http://schemas.microsoft.com/office/powerpoint/2010/main" val="23941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9CD286-DF65-0ACF-7AD2-01F49CA1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6" t="9559" r="12990" b="9063"/>
          <a:stretch>
            <a:fillRect/>
          </a:stretch>
        </p:blipFill>
        <p:spPr>
          <a:xfrm>
            <a:off x="8790038" y="1157748"/>
            <a:ext cx="1494504" cy="806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84A8BF-A370-E3BD-C212-A529FE365400}"/>
              </a:ext>
            </a:extLst>
          </p:cNvPr>
          <p:cNvSpPr txBox="1"/>
          <p:nvPr/>
        </p:nvSpPr>
        <p:spPr>
          <a:xfrm>
            <a:off x="737419" y="462116"/>
            <a:ext cx="4621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Customers overview: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25F6B-E2D9-01D8-53C5-E11243A2D8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81" t="10576" r="6562" b="11919"/>
          <a:stretch>
            <a:fillRect/>
          </a:stretch>
        </p:blipFill>
        <p:spPr>
          <a:xfrm>
            <a:off x="3126661" y="4336025"/>
            <a:ext cx="2851355" cy="19861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C1A685-A460-CC46-83FC-CD354A0114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35" t="7124" r="8301" b="9147"/>
          <a:stretch>
            <a:fillRect/>
          </a:stretch>
        </p:blipFill>
        <p:spPr>
          <a:xfrm>
            <a:off x="196645" y="4336026"/>
            <a:ext cx="2851355" cy="19861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0C448A-8D88-ED66-421F-227063A0D9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53" t="8401" r="7642" b="8171"/>
          <a:stretch>
            <a:fillRect/>
          </a:stretch>
        </p:blipFill>
        <p:spPr>
          <a:xfrm>
            <a:off x="6169743" y="4336025"/>
            <a:ext cx="2851356" cy="19861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39FCE4-CDA4-28E7-714C-FAAAA3C337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38" t="6142" r="9830" b="13670"/>
          <a:stretch>
            <a:fillRect/>
          </a:stretch>
        </p:blipFill>
        <p:spPr>
          <a:xfrm>
            <a:off x="9183328" y="4336025"/>
            <a:ext cx="2851356" cy="19861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E111F2-3EF9-23D9-8E0E-2FE0B1057CD9}"/>
              </a:ext>
            </a:extLst>
          </p:cNvPr>
          <p:cNvSpPr txBox="1"/>
          <p:nvPr/>
        </p:nvSpPr>
        <p:spPr>
          <a:xfrm>
            <a:off x="196645" y="2802193"/>
            <a:ext cx="2595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there is equal proportion of the customers are there from each location.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281A41-1976-D5FC-2BE7-CA6BDCA33DF1}"/>
              </a:ext>
            </a:extLst>
          </p:cNvPr>
          <p:cNvSpPr txBox="1"/>
          <p:nvPr/>
        </p:nvSpPr>
        <p:spPr>
          <a:xfrm>
            <a:off x="3126660" y="2802194"/>
            <a:ext cx="2851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The customers in the age bins from 20-40 and </a:t>
            </a:r>
          </a:p>
          <a:p>
            <a:r>
              <a:rPr lang="en-IN" dirty="0"/>
              <a:t>40-60 are more when compared to 0-20 and 60-80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295A1A-1BA6-41D0-AFA9-71E9A77A8F42}"/>
              </a:ext>
            </a:extLst>
          </p:cNvPr>
          <p:cNvSpPr txBox="1"/>
          <p:nvPr/>
        </p:nvSpPr>
        <p:spPr>
          <a:xfrm>
            <a:off x="6243484" y="2802193"/>
            <a:ext cx="277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there is no significant difference in the payment methods preferred by the customers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BDFD43-CAAB-184D-05D9-8E190B8C4D22}"/>
              </a:ext>
            </a:extLst>
          </p:cNvPr>
          <p:cNvSpPr txBox="1"/>
          <p:nvPr/>
        </p:nvSpPr>
        <p:spPr>
          <a:xfrm>
            <a:off x="9183328" y="2822651"/>
            <a:ext cx="26252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the customers are more in the category of middle income-level when compared to others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ECFF16-6D96-2DE3-C297-4EC3C6F563DC}"/>
              </a:ext>
            </a:extLst>
          </p:cNvPr>
          <p:cNvSpPr txBox="1"/>
          <p:nvPr/>
        </p:nvSpPr>
        <p:spPr>
          <a:xfrm>
            <a:off x="1258529" y="1238865"/>
            <a:ext cx="471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customers as per the dataset is 7000</a:t>
            </a:r>
          </a:p>
        </p:txBody>
      </p:sp>
    </p:spTree>
    <p:extLst>
      <p:ext uri="{BB962C8B-B14F-4D97-AF65-F5344CB8AC3E}">
        <p14:creationId xmlns:p14="http://schemas.microsoft.com/office/powerpoint/2010/main" val="1187995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1FCCBB-57EA-2F6A-2AE1-1BDD6834C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3" t="11526" r="11431" b="11065"/>
          <a:stretch>
            <a:fillRect/>
          </a:stretch>
        </p:blipFill>
        <p:spPr>
          <a:xfrm>
            <a:off x="8357420" y="953278"/>
            <a:ext cx="1514168" cy="825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67519F-ECC3-334E-FE89-83FE75C78926}"/>
              </a:ext>
            </a:extLst>
          </p:cNvPr>
          <p:cNvSpPr txBox="1"/>
          <p:nvPr/>
        </p:nvSpPr>
        <p:spPr>
          <a:xfrm>
            <a:off x="540774" y="491613"/>
            <a:ext cx="431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Transactions Value Overview: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1575B4-CDBF-1974-C299-8C01B5812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00" t="6609" r="9473" b="6894"/>
          <a:stretch>
            <a:fillRect/>
          </a:stretch>
        </p:blipFill>
        <p:spPr>
          <a:xfrm>
            <a:off x="164841" y="4205303"/>
            <a:ext cx="2880852" cy="2035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7DEE90-E7C7-3BA6-818E-47661C1E7C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02" t="8248" r="9129" b="4191"/>
          <a:stretch>
            <a:fillRect/>
          </a:stretch>
        </p:blipFill>
        <p:spPr>
          <a:xfrm>
            <a:off x="3195480" y="4207310"/>
            <a:ext cx="2880852" cy="20352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4EBA64-38F5-8D7C-8C2E-BE1BC15567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77" t="7353" r="7155" b="7450"/>
          <a:stretch>
            <a:fillRect/>
          </a:stretch>
        </p:blipFill>
        <p:spPr>
          <a:xfrm>
            <a:off x="9264289" y="4205302"/>
            <a:ext cx="2880853" cy="20352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73A02C-EE29-6BF4-86A5-D0F9386C64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55" t="10465" r="7235" b="11331"/>
          <a:stretch>
            <a:fillRect/>
          </a:stretch>
        </p:blipFill>
        <p:spPr>
          <a:xfrm>
            <a:off x="6233651" y="4205302"/>
            <a:ext cx="2880853" cy="20352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5C48F1-39FB-989B-C500-EE2C3992AF9B}"/>
              </a:ext>
            </a:extLst>
          </p:cNvPr>
          <p:cNvSpPr txBox="1"/>
          <p:nvPr/>
        </p:nvSpPr>
        <p:spPr>
          <a:xfrm>
            <a:off x="1081548" y="1140316"/>
            <a:ext cx="552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transaction value done by the customers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6498FC-DA69-6BBA-AE8E-6C984FEBCEEA}"/>
              </a:ext>
            </a:extLst>
          </p:cNvPr>
          <p:cNvSpPr txBox="1"/>
          <p:nvPr/>
        </p:nvSpPr>
        <p:spPr>
          <a:xfrm>
            <a:off x="265471" y="2650690"/>
            <a:ext cx="27802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is a spike in the average transactions done by the middle income level compared to the other income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8F822D-CA9C-A38C-22BA-F6D346EF3D9D}"/>
              </a:ext>
            </a:extLst>
          </p:cNvPr>
          <p:cNvSpPr txBox="1"/>
          <p:nvPr/>
        </p:nvSpPr>
        <p:spPr>
          <a:xfrm>
            <a:off x="3195480" y="2650690"/>
            <a:ext cx="27727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customers between the age 20 to 60 are having the more transaction value compared to the other age groups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230761-90CA-C890-5752-2CE5F75839FB}"/>
              </a:ext>
            </a:extLst>
          </p:cNvPr>
          <p:cNvSpPr txBox="1"/>
          <p:nvPr/>
        </p:nvSpPr>
        <p:spPr>
          <a:xfrm>
            <a:off x="6341803" y="2650690"/>
            <a:ext cx="27727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is small significant spike in the transaction value in the suburban location when compared to the other locations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FD748A-9217-20E2-C587-AA5FBF5706C0}"/>
              </a:ext>
            </a:extLst>
          </p:cNvPr>
          <p:cNvSpPr txBox="1"/>
          <p:nvPr/>
        </p:nvSpPr>
        <p:spPr>
          <a:xfrm>
            <a:off x="9264288" y="2789189"/>
            <a:ext cx="2880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is no significant difference in the transaction value by the payment methods. </a:t>
            </a:r>
          </a:p>
        </p:txBody>
      </p:sp>
    </p:spTree>
    <p:extLst>
      <p:ext uri="{BB962C8B-B14F-4D97-AF65-F5344CB8AC3E}">
        <p14:creationId xmlns:p14="http://schemas.microsoft.com/office/powerpoint/2010/main" val="408523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49C3A5-57C3-4C0C-A294-783436C397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82" t="8961" r="13983" b="11418"/>
          <a:stretch>
            <a:fillRect/>
          </a:stretch>
        </p:blipFill>
        <p:spPr>
          <a:xfrm>
            <a:off x="8849032" y="1179872"/>
            <a:ext cx="1474840" cy="796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418610-71EE-6A3B-9E98-07EF68897BB2}"/>
              </a:ext>
            </a:extLst>
          </p:cNvPr>
          <p:cNvSpPr txBox="1"/>
          <p:nvPr/>
        </p:nvSpPr>
        <p:spPr>
          <a:xfrm>
            <a:off x="560439" y="412955"/>
            <a:ext cx="443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Cashback Overview: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7FC6D-6759-6D5A-1C33-C30017B550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3" t="4189" r="7749" b="8344"/>
          <a:stretch>
            <a:fillRect/>
          </a:stretch>
        </p:blipFill>
        <p:spPr>
          <a:xfrm>
            <a:off x="176133" y="4385186"/>
            <a:ext cx="2841523" cy="19664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49E1FF-0A48-60BB-B275-69AD60BB18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28" t="5360" r="8059" b="19849"/>
          <a:stretch>
            <a:fillRect/>
          </a:stretch>
        </p:blipFill>
        <p:spPr>
          <a:xfrm>
            <a:off x="9223928" y="4385185"/>
            <a:ext cx="2841525" cy="19664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7A7109-FFB7-00FE-ABB8-56E5E6AD9C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32" t="11587" r="12046" b="11390"/>
          <a:stretch>
            <a:fillRect/>
          </a:stretch>
        </p:blipFill>
        <p:spPr>
          <a:xfrm>
            <a:off x="6145584" y="4385185"/>
            <a:ext cx="2910350" cy="19664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B309C0-E590-0553-A025-78DA80B53E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369" t="8902" r="8079" b="9509"/>
          <a:stretch>
            <a:fillRect/>
          </a:stretch>
        </p:blipFill>
        <p:spPr>
          <a:xfrm>
            <a:off x="3136066" y="4385186"/>
            <a:ext cx="2841524" cy="19664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38D212-7AB6-4C20-63F4-157BEA6D94D9}"/>
              </a:ext>
            </a:extLst>
          </p:cNvPr>
          <p:cNvSpPr txBox="1"/>
          <p:nvPr/>
        </p:nvSpPr>
        <p:spPr>
          <a:xfrm>
            <a:off x="914400" y="1179872"/>
            <a:ext cx="539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cashback received by the customers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FB954-907B-E107-AB98-F127C56120CB}"/>
              </a:ext>
            </a:extLst>
          </p:cNvPr>
          <p:cNvSpPr txBox="1"/>
          <p:nvPr/>
        </p:nvSpPr>
        <p:spPr>
          <a:xfrm>
            <a:off x="245806" y="2674374"/>
            <a:ext cx="2771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customers which are in the urban received more cashback then the customers in the suburban and rural locations.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AFBA43-7BA2-EF75-5517-A9E74CA492D6}"/>
              </a:ext>
            </a:extLst>
          </p:cNvPr>
          <p:cNvSpPr txBox="1"/>
          <p:nvPr/>
        </p:nvSpPr>
        <p:spPr>
          <a:xfrm>
            <a:off x="3224557" y="2690336"/>
            <a:ext cx="26645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customers which are from the middle income-level are getting more cashback than the other income levels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FBD4F0-F3DE-6F59-CDD9-1F8327FDA0E2}"/>
              </a:ext>
            </a:extLst>
          </p:cNvPr>
          <p:cNvSpPr txBox="1"/>
          <p:nvPr/>
        </p:nvSpPr>
        <p:spPr>
          <a:xfrm>
            <a:off x="6145584" y="2690336"/>
            <a:ext cx="2841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customers who are using the UPI payment method are getting more cashback than the users of other payment modes.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8CC4D4-2DD4-1E64-85D1-21BF38562A4E}"/>
              </a:ext>
            </a:extLst>
          </p:cNvPr>
          <p:cNvSpPr txBox="1"/>
          <p:nvPr/>
        </p:nvSpPr>
        <p:spPr>
          <a:xfrm>
            <a:off x="9223928" y="2851355"/>
            <a:ext cx="2841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customers are getting more cashbacks in the 20-60</a:t>
            </a:r>
          </a:p>
          <a:p>
            <a:r>
              <a:rPr lang="en-IN" dirty="0"/>
              <a:t>Age group as they are doing more transactions.</a:t>
            </a:r>
          </a:p>
        </p:txBody>
      </p:sp>
    </p:spTree>
    <p:extLst>
      <p:ext uri="{BB962C8B-B14F-4D97-AF65-F5344CB8AC3E}">
        <p14:creationId xmlns:p14="http://schemas.microsoft.com/office/powerpoint/2010/main" val="395077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346FCC-DA40-31D3-2E03-A86AA21DDE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13" t="11797" r="13927" b="18596"/>
          <a:stretch>
            <a:fillRect/>
          </a:stretch>
        </p:blipFill>
        <p:spPr>
          <a:xfrm>
            <a:off x="9281651" y="1081549"/>
            <a:ext cx="1533832" cy="855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517CAA-D15B-4058-9C6E-661E14BF0BEF}"/>
              </a:ext>
            </a:extLst>
          </p:cNvPr>
          <p:cNvSpPr txBox="1"/>
          <p:nvPr/>
        </p:nvSpPr>
        <p:spPr>
          <a:xfrm>
            <a:off x="757084" y="530942"/>
            <a:ext cx="4414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LTV Overview: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7A197-1E5C-3A85-D5BB-5E1E1613A7C9}"/>
              </a:ext>
            </a:extLst>
          </p:cNvPr>
          <p:cNvSpPr txBox="1"/>
          <p:nvPr/>
        </p:nvSpPr>
        <p:spPr>
          <a:xfrm>
            <a:off x="1406012" y="1081549"/>
            <a:ext cx="4689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Average LTV(Lifetime Value) received by the customers in the dataset.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F1A88E-EA7C-3720-64BA-428F540E97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12" t="5084" r="4826" b="8269"/>
          <a:stretch>
            <a:fillRect/>
          </a:stretch>
        </p:blipFill>
        <p:spPr>
          <a:xfrm>
            <a:off x="285134" y="4395019"/>
            <a:ext cx="2841523" cy="20057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9107EA-1896-4A6A-4062-B5759CEDDD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67" t="8985" r="6914" b="8769"/>
          <a:stretch>
            <a:fillRect/>
          </a:stretch>
        </p:blipFill>
        <p:spPr>
          <a:xfrm>
            <a:off x="3254476" y="4395018"/>
            <a:ext cx="2841523" cy="20057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C9AA5C-225E-4A04-5F89-DFE25CA4EA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43" t="9287" r="6448" b="8466"/>
          <a:stretch>
            <a:fillRect/>
          </a:stretch>
        </p:blipFill>
        <p:spPr>
          <a:xfrm>
            <a:off x="9193168" y="4395017"/>
            <a:ext cx="2841523" cy="20057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62F5D9-0573-F1F8-0DDA-DDB9FB68D8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52" t="6961" r="9648" b="10792"/>
          <a:stretch>
            <a:fillRect/>
          </a:stretch>
        </p:blipFill>
        <p:spPr>
          <a:xfrm>
            <a:off x="6223822" y="4395018"/>
            <a:ext cx="2841523" cy="20057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03298F-2297-7465-B099-4A58081410FA}"/>
              </a:ext>
            </a:extLst>
          </p:cNvPr>
          <p:cNvSpPr txBox="1"/>
          <p:nvPr/>
        </p:nvSpPr>
        <p:spPr>
          <a:xfrm>
            <a:off x="285134" y="2684206"/>
            <a:ext cx="2841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middle income level having more LTV compared to the other income level groups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3DA6BB-20B7-11B4-7147-68823EA1D2D7}"/>
              </a:ext>
            </a:extLst>
          </p:cNvPr>
          <p:cNvSpPr txBox="1"/>
          <p:nvPr/>
        </p:nvSpPr>
        <p:spPr>
          <a:xfrm>
            <a:off x="3254476" y="2684206"/>
            <a:ext cx="2841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customers between the ages 20 to 40 are having more LTV when compared to the other ages groups.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205DC2-CC3A-F638-2C0C-F306EA979CAC}"/>
              </a:ext>
            </a:extLst>
          </p:cNvPr>
          <p:cNvSpPr txBox="1"/>
          <p:nvPr/>
        </p:nvSpPr>
        <p:spPr>
          <a:xfrm>
            <a:off x="6223822" y="2713703"/>
            <a:ext cx="28415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is a bit spike in the LTVs of the customers Who are using Credit Card with regards to the payment method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C62850-F39A-F57C-7CAC-B7688DD2424E}"/>
              </a:ext>
            </a:extLst>
          </p:cNvPr>
          <p:cNvSpPr txBox="1"/>
          <p:nvPr/>
        </p:nvSpPr>
        <p:spPr>
          <a:xfrm>
            <a:off x="9193164" y="2713703"/>
            <a:ext cx="2713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LTV is more for the suburban group people when compared to the other groups</a:t>
            </a:r>
          </a:p>
        </p:txBody>
      </p:sp>
    </p:spTree>
    <p:extLst>
      <p:ext uri="{BB962C8B-B14F-4D97-AF65-F5344CB8AC3E}">
        <p14:creationId xmlns:p14="http://schemas.microsoft.com/office/powerpoint/2010/main" val="1673871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A50608-8651-4BC5-5AB8-45BAB0592C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34" t="9913" r="4065" b="15596"/>
          <a:stretch>
            <a:fillRect/>
          </a:stretch>
        </p:blipFill>
        <p:spPr>
          <a:xfrm>
            <a:off x="8937523" y="1052052"/>
            <a:ext cx="1553496" cy="816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8FD19-22CD-13EB-4970-C8C7B6E9CD8C}"/>
              </a:ext>
            </a:extLst>
          </p:cNvPr>
          <p:cNvSpPr txBox="1"/>
          <p:nvPr/>
        </p:nvSpPr>
        <p:spPr>
          <a:xfrm>
            <a:off x="668594" y="481781"/>
            <a:ext cx="4257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Loyalty Points Overview: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878EA-49D9-7323-6231-45C2AB9826A6}"/>
              </a:ext>
            </a:extLst>
          </p:cNvPr>
          <p:cNvSpPr txBox="1"/>
          <p:nvPr/>
        </p:nvSpPr>
        <p:spPr>
          <a:xfrm>
            <a:off x="1209368" y="1209368"/>
            <a:ext cx="5250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loyal points earned by the customers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47DA4C-5BDB-D6BF-83A4-155CA6EB3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69" t="6402" r="11812" b="10241"/>
          <a:stretch>
            <a:fillRect/>
          </a:stretch>
        </p:blipFill>
        <p:spPr>
          <a:xfrm>
            <a:off x="177227" y="4335420"/>
            <a:ext cx="2871021" cy="2040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38102C-C3F7-8E1E-AB2B-B14E8052A2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84" t="5923" r="4107" b="6637"/>
          <a:stretch>
            <a:fillRect/>
          </a:stretch>
        </p:blipFill>
        <p:spPr>
          <a:xfrm>
            <a:off x="3195480" y="4335420"/>
            <a:ext cx="2871021" cy="2040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AB0A3A-1570-8079-C54C-D75F02E1F9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36" t="6257" r="12048" b="10061"/>
          <a:stretch>
            <a:fillRect/>
          </a:stretch>
        </p:blipFill>
        <p:spPr>
          <a:xfrm>
            <a:off x="6196411" y="4335420"/>
            <a:ext cx="2871021" cy="2040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663E45-7649-884A-C877-D6373E24A9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05" t="7070" r="8832" b="9248"/>
          <a:stretch>
            <a:fillRect/>
          </a:stretch>
        </p:blipFill>
        <p:spPr>
          <a:xfrm>
            <a:off x="9138835" y="4335420"/>
            <a:ext cx="2871021" cy="20407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5A3B4D-4F42-7876-E54C-8EBA5E516247}"/>
              </a:ext>
            </a:extLst>
          </p:cNvPr>
          <p:cNvSpPr txBox="1"/>
          <p:nvPr/>
        </p:nvSpPr>
        <p:spPr>
          <a:xfrm>
            <a:off x="177227" y="2949677"/>
            <a:ext cx="2871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customers are earning more loyalty points who are using the UPI payment mode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1F39A0-6085-C5C0-E6F4-F779052AE399}"/>
              </a:ext>
            </a:extLst>
          </p:cNvPr>
          <p:cNvSpPr txBox="1"/>
          <p:nvPr/>
        </p:nvSpPr>
        <p:spPr>
          <a:xfrm>
            <a:off x="3195480" y="2949677"/>
            <a:ext cx="2792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customers in the Urban location are earning more loyalty points compared to other locations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526150-535F-1B81-9E33-DD221C53B13E}"/>
              </a:ext>
            </a:extLst>
          </p:cNvPr>
          <p:cNvSpPr txBox="1"/>
          <p:nvPr/>
        </p:nvSpPr>
        <p:spPr>
          <a:xfrm>
            <a:off x="6196411" y="2969341"/>
            <a:ext cx="267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middle income level customers are earning more loyalty points than others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06480-CBAD-4F75-801A-F929B3BC5115}"/>
              </a:ext>
            </a:extLst>
          </p:cNvPr>
          <p:cNvSpPr txBox="1"/>
          <p:nvPr/>
        </p:nvSpPr>
        <p:spPr>
          <a:xfrm>
            <a:off x="9238202" y="2949677"/>
            <a:ext cx="267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is no significant relation between the loyalty points and the app usage frequency</a:t>
            </a:r>
          </a:p>
        </p:txBody>
      </p:sp>
    </p:spTree>
    <p:extLst>
      <p:ext uri="{BB962C8B-B14F-4D97-AF65-F5344CB8AC3E}">
        <p14:creationId xmlns:p14="http://schemas.microsoft.com/office/powerpoint/2010/main" val="3486889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AD8A51-EE59-63E6-D538-2780185AC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53" t="7234" r="7754" b="7712"/>
          <a:stretch>
            <a:fillRect/>
          </a:stretch>
        </p:blipFill>
        <p:spPr>
          <a:xfrm>
            <a:off x="9301316" y="884452"/>
            <a:ext cx="1553497" cy="875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C94A4E-78E0-F3D4-9376-B989515E78E2}"/>
              </a:ext>
            </a:extLst>
          </p:cNvPr>
          <p:cNvSpPr txBox="1"/>
          <p:nvPr/>
        </p:nvSpPr>
        <p:spPr>
          <a:xfrm>
            <a:off x="698090" y="422787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Referral Overview: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FA2B6-0D30-DF34-2309-625679842947}"/>
              </a:ext>
            </a:extLst>
          </p:cNvPr>
          <p:cNvSpPr txBox="1"/>
          <p:nvPr/>
        </p:nvSpPr>
        <p:spPr>
          <a:xfrm>
            <a:off x="1209368" y="1081548"/>
            <a:ext cx="4650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referral given by the present customers to the other persons.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F7A94B-4901-9A69-9495-F0C3FE42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3" t="6658" r="8051" b="5422"/>
          <a:stretch>
            <a:fillRect/>
          </a:stretch>
        </p:blipFill>
        <p:spPr>
          <a:xfrm>
            <a:off x="93406" y="4326194"/>
            <a:ext cx="2890684" cy="2035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BB30F4-CFBB-FB5A-BBF5-4B829C0631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31" t="10431" r="5444" b="10480"/>
          <a:stretch>
            <a:fillRect/>
          </a:stretch>
        </p:blipFill>
        <p:spPr>
          <a:xfrm>
            <a:off x="3094815" y="4326194"/>
            <a:ext cx="2890685" cy="20352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853ED2-DD5F-A333-A2EE-357D67CE81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08" t="11320" r="8716" b="12918"/>
          <a:stretch>
            <a:fillRect/>
          </a:stretch>
        </p:blipFill>
        <p:spPr>
          <a:xfrm>
            <a:off x="6096000" y="4326193"/>
            <a:ext cx="2890686" cy="20352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F303A1-9AE5-3720-B380-5834809397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01" t="6832" r="8722" b="4517"/>
          <a:stretch>
            <a:fillRect/>
          </a:stretch>
        </p:blipFill>
        <p:spPr>
          <a:xfrm>
            <a:off x="9097186" y="4326192"/>
            <a:ext cx="2890686" cy="20352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9E5975-8F9D-FA57-FCA7-068403ACACD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244" t="7482" r="7376" b="3498"/>
          <a:stretch>
            <a:fillRect/>
          </a:stretch>
        </p:blipFill>
        <p:spPr>
          <a:xfrm>
            <a:off x="9097186" y="2103877"/>
            <a:ext cx="2890686" cy="20352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2ED052-C5CF-2E79-1491-BDC07C7ED65C}"/>
              </a:ext>
            </a:extLst>
          </p:cNvPr>
          <p:cNvSpPr txBox="1"/>
          <p:nvPr/>
        </p:nvSpPr>
        <p:spPr>
          <a:xfrm>
            <a:off x="698090" y="2103877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is no significant difference I observed in the referral count with regards to the payment method, app usage frequency, Income level and Location but the customers between the age 20-40and 40-60 are giving more referrals when compared to the other age group.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AFA29D5-21E3-F61B-422F-E1A14B87BF6C}"/>
              </a:ext>
            </a:extLst>
          </p:cNvPr>
          <p:cNvSpPr/>
          <p:nvPr/>
        </p:nvSpPr>
        <p:spPr>
          <a:xfrm>
            <a:off x="7079225" y="1283167"/>
            <a:ext cx="658761" cy="2064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260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1C74A6-04C9-8542-EFCE-709FCF39E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25" t="14527" r="11043" b="10328"/>
          <a:stretch>
            <a:fillRect/>
          </a:stretch>
        </p:blipFill>
        <p:spPr>
          <a:xfrm>
            <a:off x="9193161" y="993058"/>
            <a:ext cx="1543666" cy="81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8AC6D9-E977-F7DC-9E85-79593993A873}"/>
              </a:ext>
            </a:extLst>
          </p:cNvPr>
          <p:cNvSpPr txBox="1"/>
          <p:nvPr/>
        </p:nvSpPr>
        <p:spPr>
          <a:xfrm>
            <a:off x="924232" y="373626"/>
            <a:ext cx="4001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Support Tickets Overview: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FA1E2-C1A2-2434-F2A6-AC7E77A66918}"/>
              </a:ext>
            </a:extLst>
          </p:cNvPr>
          <p:cNvSpPr txBox="1"/>
          <p:nvPr/>
        </p:nvSpPr>
        <p:spPr>
          <a:xfrm>
            <a:off x="1484671" y="1170039"/>
            <a:ext cx="5722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number of tickets raised by the customers for the support.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4DF11-C29D-E386-F224-97551D3580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09" t="7963" r="6859" b="5383"/>
          <a:stretch>
            <a:fillRect/>
          </a:stretch>
        </p:blipFill>
        <p:spPr>
          <a:xfrm>
            <a:off x="280691" y="4562633"/>
            <a:ext cx="2812026" cy="198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17BE74-ABCB-F456-C0EA-DCE710072E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60" t="6743" r="3415" b="7393"/>
          <a:stretch>
            <a:fillRect/>
          </a:stretch>
        </p:blipFill>
        <p:spPr>
          <a:xfrm>
            <a:off x="3264309" y="4562633"/>
            <a:ext cx="2831691" cy="1981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234477-B8A6-6315-576E-5E00C52FF0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05" t="9789" r="8775" b="6618"/>
          <a:stretch>
            <a:fillRect/>
          </a:stretch>
        </p:blipFill>
        <p:spPr>
          <a:xfrm>
            <a:off x="6267592" y="4562633"/>
            <a:ext cx="2821859" cy="1981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93FA12-3518-C29E-5BEE-F02F06FE97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51" t="11477" r="8796" b="10922"/>
          <a:stretch>
            <a:fillRect/>
          </a:stretch>
        </p:blipFill>
        <p:spPr>
          <a:xfrm>
            <a:off x="9257071" y="4562633"/>
            <a:ext cx="2821859" cy="1981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4D0CE9-F051-6F27-B7CB-7153C8732212}"/>
              </a:ext>
            </a:extLst>
          </p:cNvPr>
          <p:cNvSpPr txBox="1"/>
          <p:nvPr/>
        </p:nvSpPr>
        <p:spPr>
          <a:xfrm>
            <a:off x="924232" y="2556387"/>
            <a:ext cx="103828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The customers who are in the age between the 20 – 60 are raising tickets as they are doing more transactions.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The customers in the Urban location are raising more tickets when compared to the others in the different locations.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The customers are raising more tickets who are UPI, Wallet Balance, Debit Card when compared to the Credit Card users.</a:t>
            </a:r>
          </a:p>
        </p:txBody>
      </p:sp>
    </p:spTree>
    <p:extLst>
      <p:ext uri="{BB962C8B-B14F-4D97-AF65-F5344CB8AC3E}">
        <p14:creationId xmlns:p14="http://schemas.microsoft.com/office/powerpoint/2010/main" val="66610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20420C-3472-48E1-C85F-D06229FF00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46" t="9257" r="11679" b="11491"/>
          <a:stretch>
            <a:fillRect/>
          </a:stretch>
        </p:blipFill>
        <p:spPr>
          <a:xfrm>
            <a:off x="9340645" y="1071717"/>
            <a:ext cx="1504336" cy="8455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F2A73-E574-2E34-D53B-E2D9A345DD15}"/>
              </a:ext>
            </a:extLst>
          </p:cNvPr>
          <p:cNvSpPr txBox="1"/>
          <p:nvPr/>
        </p:nvSpPr>
        <p:spPr>
          <a:xfrm>
            <a:off x="727587" y="511277"/>
            <a:ext cx="4650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Customer Satisfaction Overview: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BC50D-AA75-BC06-6B55-EE810A2B0980}"/>
              </a:ext>
            </a:extLst>
          </p:cNvPr>
          <p:cNvSpPr txBox="1"/>
          <p:nvPr/>
        </p:nvSpPr>
        <p:spPr>
          <a:xfrm>
            <a:off x="1494503" y="1219200"/>
            <a:ext cx="5270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average satisfaction score given by the customers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CBC4A3-23B1-4C8F-04DF-94054826F2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68" t="8930" r="7956" b="6774"/>
          <a:stretch>
            <a:fillRect/>
          </a:stretch>
        </p:blipFill>
        <p:spPr>
          <a:xfrm>
            <a:off x="181896" y="4529354"/>
            <a:ext cx="2871020" cy="20156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A1A2F6-B222-1DAF-373C-3321E9C6FA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37" t="14005" r="8682" b="10332"/>
          <a:stretch>
            <a:fillRect/>
          </a:stretch>
        </p:blipFill>
        <p:spPr>
          <a:xfrm>
            <a:off x="6222396" y="4612926"/>
            <a:ext cx="2819788" cy="19172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2D4B82-0E5A-0BEC-8CCC-2B391FD527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996" t="5648" r="7958" b="12591"/>
          <a:stretch>
            <a:fillRect/>
          </a:stretch>
        </p:blipFill>
        <p:spPr>
          <a:xfrm>
            <a:off x="3201048" y="4544101"/>
            <a:ext cx="2819788" cy="19861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E640FB-A5A7-45C3-5621-6C8760D9A5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17" t="9478" r="5224" b="17601"/>
          <a:stretch>
            <a:fillRect/>
          </a:stretch>
        </p:blipFill>
        <p:spPr>
          <a:xfrm>
            <a:off x="9190315" y="2358668"/>
            <a:ext cx="2819789" cy="19172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14E29F-E110-998A-8F7B-064CD64719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58" t="6885" r="12258" b="10928"/>
          <a:stretch>
            <a:fillRect/>
          </a:stretch>
        </p:blipFill>
        <p:spPr>
          <a:xfrm>
            <a:off x="9190316" y="4499332"/>
            <a:ext cx="2819788" cy="19964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8FF66C-0ABD-E09F-A629-DD74D8213188}"/>
              </a:ext>
            </a:extLst>
          </p:cNvPr>
          <p:cNvSpPr txBox="1"/>
          <p:nvPr/>
        </p:nvSpPr>
        <p:spPr>
          <a:xfrm>
            <a:off x="727587" y="2358668"/>
            <a:ext cx="7678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from all the diagrams in this slide we can conclude that the more customers are giving rating 5 to 6 regardless of their payment method, age, location.</a:t>
            </a:r>
          </a:p>
        </p:txBody>
      </p:sp>
    </p:spTree>
    <p:extLst>
      <p:ext uri="{BB962C8B-B14F-4D97-AF65-F5344CB8AC3E}">
        <p14:creationId xmlns:p14="http://schemas.microsoft.com/office/powerpoint/2010/main" val="205642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E4AD87-ECA4-6B5E-5175-CB81D3B5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77" y="711118"/>
            <a:ext cx="10137058" cy="2717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60D533-5FE7-4462-0842-3B8D63261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677" y="3637931"/>
            <a:ext cx="10137058" cy="27178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6A87BA-AB5A-2E45-974D-B1A29ACEDC9F}"/>
              </a:ext>
            </a:extLst>
          </p:cNvPr>
          <p:cNvSpPr txBox="1"/>
          <p:nvPr/>
        </p:nvSpPr>
        <p:spPr>
          <a:xfrm>
            <a:off x="2674374" y="167149"/>
            <a:ext cx="7089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Five point summary for continuous variables</a:t>
            </a:r>
          </a:p>
        </p:txBody>
      </p:sp>
    </p:spTree>
    <p:extLst>
      <p:ext uri="{BB962C8B-B14F-4D97-AF65-F5344CB8AC3E}">
        <p14:creationId xmlns:p14="http://schemas.microsoft.com/office/powerpoint/2010/main" val="3432445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49286E-20AC-19A4-3C1D-E48178DFE23F}"/>
              </a:ext>
            </a:extLst>
          </p:cNvPr>
          <p:cNvSpPr txBox="1"/>
          <p:nvPr/>
        </p:nvSpPr>
        <p:spPr>
          <a:xfrm>
            <a:off x="3072581" y="235974"/>
            <a:ext cx="604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Descriptive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673652-2448-55BE-3FCA-3A4251B5D4C9}"/>
              </a:ext>
            </a:extLst>
          </p:cNvPr>
          <p:cNvSpPr txBox="1"/>
          <p:nvPr/>
        </p:nvSpPr>
        <p:spPr>
          <a:xfrm>
            <a:off x="639097" y="845574"/>
            <a:ext cx="4463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Correlation Analysis: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19B81-F384-14EC-4C8E-A325B0616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895" y="1149511"/>
            <a:ext cx="4706007" cy="5010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F7D34C-9DAC-93BA-0CB4-054544A25B13}"/>
              </a:ext>
            </a:extLst>
          </p:cNvPr>
          <p:cNvSpPr txBox="1"/>
          <p:nvPr/>
        </p:nvSpPr>
        <p:spPr>
          <a:xfrm>
            <a:off x="1160207" y="1935710"/>
            <a:ext cx="53192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Here I find the correlation between all the variables against LTV.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What I have observed is there is strong positive correlation between the total spent variable and LTV variable.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Here we can conclude that the customers who are spending more are having more LTV.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F835E-3A70-90D8-9005-DA47C4D01C9F}"/>
              </a:ext>
            </a:extLst>
          </p:cNvPr>
          <p:cNvSpPr txBox="1"/>
          <p:nvPr/>
        </p:nvSpPr>
        <p:spPr>
          <a:xfrm>
            <a:off x="875071" y="1455174"/>
            <a:ext cx="4706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Why is LTV higher for some users?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23239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A3DD35-65B7-6F5F-26BB-5F309472ABCE}"/>
              </a:ext>
            </a:extLst>
          </p:cNvPr>
          <p:cNvSpPr txBox="1"/>
          <p:nvPr/>
        </p:nvSpPr>
        <p:spPr>
          <a:xfrm>
            <a:off x="698091" y="534083"/>
            <a:ext cx="6096000" cy="367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2325"/>
              </a:lnSpc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Is Loyalty Points Earned related to Total Spent?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3530B-E9E0-3D5A-4512-EE288D2F49BD}"/>
              </a:ext>
            </a:extLst>
          </p:cNvPr>
          <p:cNvSpPr txBox="1"/>
          <p:nvPr/>
        </p:nvSpPr>
        <p:spPr>
          <a:xfrm>
            <a:off x="1081548" y="1348319"/>
            <a:ext cx="66269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digi_wallet['</a:t>
            </a:r>
            <a:r>
              <a:rPr lang="en-IN" dirty="0" err="1"/>
              <a:t>Loyalty_Points_Earned</a:t>
            </a:r>
            <a:r>
              <a:rPr lang="en-IN" dirty="0"/>
              <a:t>'].</a:t>
            </a:r>
            <a:r>
              <a:rPr lang="en-IN" dirty="0" err="1"/>
              <a:t>corr</a:t>
            </a:r>
            <a:r>
              <a:rPr lang="en-IN" dirty="0"/>
              <a:t>(digi_wallet['</a:t>
            </a:r>
            <a:r>
              <a:rPr lang="en-IN" dirty="0" err="1"/>
              <a:t>Total_Spent</a:t>
            </a:r>
            <a:r>
              <a:rPr lang="en-IN" dirty="0"/>
              <a:t>’])</a:t>
            </a:r>
          </a:p>
          <a:p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Here I find the correlation between the loyalty points and the total amount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 observed is There is strong negative correlation between the two variables.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CD370-7C53-2035-FDFE-6CB071DC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844" y="1348319"/>
            <a:ext cx="2924583" cy="400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FB411B-A404-AA4A-49FD-7D8EB212D8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6" t="4504" r="3461" b="2497"/>
          <a:stretch>
            <a:fillRect/>
          </a:stretch>
        </p:blipFill>
        <p:spPr>
          <a:xfrm>
            <a:off x="8583561" y="3716594"/>
            <a:ext cx="2924583" cy="25072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995BC7-461D-A312-46F3-E9C379D45B50}"/>
              </a:ext>
            </a:extLst>
          </p:cNvPr>
          <p:cNvSpPr txBox="1"/>
          <p:nvPr/>
        </p:nvSpPr>
        <p:spPr>
          <a:xfrm>
            <a:off x="698091" y="3549536"/>
            <a:ext cx="486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Average transaction value vs LTV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3291C6-9CD2-8550-AD1B-5D7A297F1DEA}"/>
              </a:ext>
            </a:extLst>
          </p:cNvPr>
          <p:cNvSpPr txBox="1"/>
          <p:nvPr/>
        </p:nvSpPr>
        <p:spPr>
          <a:xfrm>
            <a:off x="1081548" y="4237703"/>
            <a:ext cx="6322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from the graph, we can conclude that the LTV is more for the customers who are transferring more money.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05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1124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 Kottakota</dc:creator>
  <cp:lastModifiedBy>Akhil Kottakota</cp:lastModifiedBy>
  <cp:revision>17</cp:revision>
  <dcterms:created xsi:type="dcterms:W3CDTF">2026-02-28T09:20:09Z</dcterms:created>
  <dcterms:modified xsi:type="dcterms:W3CDTF">2026-03-01T16:40:55Z</dcterms:modified>
</cp:coreProperties>
</file>